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63" r:id="rId2"/>
    <p:sldId id="280" r:id="rId3"/>
    <p:sldId id="281" r:id="rId4"/>
    <p:sldId id="282" r:id="rId5"/>
    <p:sldId id="283" r:id="rId6"/>
    <p:sldId id="284" r:id="rId7"/>
    <p:sldId id="285" r:id="rId8"/>
    <p:sldId id="279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293"/>
    <a:srgbClr val="0985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David Tovar Serrano" userId="ad859f5e-5ecc-4038-814a-80782b892fb6" providerId="ADAL" clId="{0A919278-F88B-4FE2-9C8D-408CE9908CDD}"/>
    <pc:docChg chg="delSld">
      <pc:chgData name="Jesus David Tovar Serrano" userId="ad859f5e-5ecc-4038-814a-80782b892fb6" providerId="ADAL" clId="{0A919278-F88B-4FE2-9C8D-408CE9908CDD}" dt="2026-04-10T04:37:10.392" v="1" actId="47"/>
      <pc:docMkLst>
        <pc:docMk/>
      </pc:docMkLst>
      <pc:sldChg chg="del">
        <pc:chgData name="Jesus David Tovar Serrano" userId="ad859f5e-5ecc-4038-814a-80782b892fb6" providerId="ADAL" clId="{0A919278-F88B-4FE2-9C8D-408CE9908CDD}" dt="2026-04-10T04:37:08.530" v="0" actId="47"/>
        <pc:sldMkLst>
          <pc:docMk/>
          <pc:sldMk cId="1740156181" sldId="275"/>
        </pc:sldMkLst>
      </pc:sldChg>
      <pc:sldChg chg="del">
        <pc:chgData name="Jesus David Tovar Serrano" userId="ad859f5e-5ecc-4038-814a-80782b892fb6" providerId="ADAL" clId="{0A919278-F88B-4FE2-9C8D-408CE9908CDD}" dt="2026-04-10T04:37:10.392" v="1" actId="47"/>
        <pc:sldMkLst>
          <pc:docMk/>
          <pc:sldMk cId="1643135549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E22D9D5-FB75-516A-7656-BE065A398D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EEB0CDD-7C16-5CCD-E0A1-1AD40E105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C15AA-1F64-4C98-8E89-179664DE5CF8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88BA3D-95CD-3257-BA7D-5556608C61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7B120D-8517-2D48-DEAD-450303220D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FEC50-884E-4518-BE0F-DEC060858C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835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emf"/><Relationship Id="rId5" Type="http://schemas.openxmlformats.org/officeDocument/2006/relationships/image" Target="../media/image15.emf"/><Relationship Id="rId4" Type="http://schemas.openxmlformats.org/officeDocument/2006/relationships/image" Target="../media/image10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ción 1  diapositiva de título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198A6-75A3-5154-1160-F8CFC5B9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98" y="1857595"/>
            <a:ext cx="5056205" cy="1325563"/>
          </a:xfrm>
        </p:spPr>
        <p:txBody>
          <a:bodyPr/>
          <a:lstStyle>
            <a:lvl1pPr>
              <a:defRPr sz="6000">
                <a:solidFill>
                  <a:srgbClr val="00B0F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256F26-EE4B-5A70-C8C4-4B5DBF5E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2CAAF3-E48D-7E1A-473E-EB41139F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A84AB4-E7D1-94EE-149A-D47A89C8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A76FA4-64A3-CD80-46BC-3C72CF91E3D8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324" y="4667682"/>
            <a:ext cx="3764329" cy="10610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D3DB135-96D0-A714-2565-5081CE6F3FFF}"/>
              </a:ext>
            </a:extLst>
          </p:cNvPr>
          <p:cNvPicPr/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6536" y="1114932"/>
            <a:ext cx="6615464" cy="413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12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ción 3 de portada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198A6-75A3-5154-1160-F8CFC5B9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98" y="1857595"/>
            <a:ext cx="5056205" cy="1325563"/>
          </a:xfrm>
        </p:spPr>
        <p:txBody>
          <a:bodyPr/>
          <a:lstStyle>
            <a:lvl1pPr>
              <a:defRPr sz="6000">
                <a:solidFill>
                  <a:srgbClr val="00B0F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256F26-EE4B-5A70-C8C4-4B5DBF5E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2CAAF3-E48D-7E1A-473E-EB41139F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A84AB4-E7D1-94EE-149A-D47A89C8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A76FA4-64A3-CD80-46BC-3C72CF91E3D8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324" y="4667682"/>
            <a:ext cx="3764329" cy="106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1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ción de porta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0BB3591-26AF-2180-EAC4-BA999038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548340-053C-396E-13C5-88EBEA84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D4455F-627D-3FD1-EC85-3FC1CC24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3C5070C-07AF-5829-568E-F1B6D8CF67AE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1833" y="1028342"/>
            <a:ext cx="7330167" cy="47818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C110F8F-129B-DFC5-8D41-5DABF4177375}"/>
              </a:ext>
            </a:extLst>
          </p:cNvPr>
          <p:cNvPicPr/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324" y="4761866"/>
            <a:ext cx="2440940" cy="1048371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2C2BD9D5-357B-CD43-3997-4BAA0520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11" y="1994229"/>
            <a:ext cx="4259318" cy="1325563"/>
          </a:xfr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2378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ción de porta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70302D-CC06-AB06-A7A2-7B50CE33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B1D98C-78E7-D029-8895-302CCB99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081F70-6FAF-584E-5618-83B1DB1E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20C289-C874-D516-3DBE-C8B71A07414B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486" y="5060032"/>
            <a:ext cx="2440940" cy="1043189"/>
          </a:xfrm>
          <a:prstGeom prst="rect">
            <a:avLst/>
          </a:prstGeom>
        </p:spPr>
      </p:pic>
      <p:pic>
        <p:nvPicPr>
          <p:cNvPr id="8" name="Imagen 7" descr="Vista de una ciudad junto al mar&#10;&#10;Descripción generada automáticamente">
            <a:extLst>
              <a:ext uri="{FF2B5EF4-FFF2-40B4-BE49-F238E27FC236}">
                <a16:creationId xmlns:a16="http://schemas.microsoft.com/office/drawing/2014/main" id="{B8A498A0-4CC7-22CB-4CBE-2D73811A7E83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328492" y="838522"/>
            <a:ext cx="8537022" cy="3968381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2CE96DF5-D962-1EE3-EB93-EB605D17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86" y="2039639"/>
            <a:ext cx="3173459" cy="1325563"/>
          </a:xfr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7984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C78D22-E9C4-AD76-1792-CF4168F0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571804-24FE-4814-A88F-44A88866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51E24F-4CFB-10E3-D026-E0DBAFD7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AB1A12-9B1A-6D88-A653-A829D051E17F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124"/>
          <a:stretch/>
        </p:blipFill>
        <p:spPr>
          <a:xfrm>
            <a:off x="10903877" y="0"/>
            <a:ext cx="1288123" cy="18626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C42290-C2B4-6D9F-317A-65560433ADA3}"/>
              </a:ext>
            </a:extLst>
          </p:cNvPr>
          <p:cNvPicPr/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483"/>
          <a:stretch/>
        </p:blipFill>
        <p:spPr>
          <a:xfrm>
            <a:off x="855232" y="0"/>
            <a:ext cx="2419273" cy="12872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A32BB19-AD0F-CA08-55EE-886687514D92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0930" y="4822194"/>
            <a:ext cx="1713550" cy="81275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B19133-F54B-DDD6-371D-6FE96FA91144}"/>
              </a:ext>
            </a:extLst>
          </p:cNvPr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5559396" y="358737"/>
            <a:ext cx="774700" cy="8382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F1AACCA-C6EB-09BD-1775-7C24334CEBE8}"/>
              </a:ext>
            </a:extLst>
          </p:cNvPr>
          <p:cNvPicPr/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4933143"/>
            <a:ext cx="1377696" cy="193010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717EFE5-B838-2724-2704-230A2A8F2D16}"/>
              </a:ext>
            </a:extLst>
          </p:cNvPr>
          <p:cNvPicPr/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2441" y="5541009"/>
            <a:ext cx="1680919" cy="81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97D61F-ED4F-5402-DBBA-E31723A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615568-3ABF-4384-8834-D92EAE27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E89A8E-A3BF-87C1-F257-82A0A4D1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27590FE-5AF5-ED59-B6B5-8FD3091B535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C4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538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ción 2 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9D5C-0F3A-FA90-8315-210C89B61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323" y="1731100"/>
            <a:ext cx="4992414" cy="2387600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ts val="6000"/>
              </a:lnSpc>
              <a:defRPr lang="es-CO" sz="6000" kern="1200" dirty="0">
                <a:solidFill>
                  <a:srgbClr val="2C4293"/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7EB43-C679-5FE2-9C8C-E3C11ECB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B829C1-FA94-3ED1-73C8-793FF6BD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C2B0A7-3798-6DEF-F059-772124FA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F2AB9A-A82C-183E-64F0-FCE20825EC7B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323" y="4645152"/>
            <a:ext cx="4203029" cy="11847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4457D7-041D-6543-DB0A-5628B8CF5F99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4304" y="0"/>
            <a:ext cx="1377696" cy="19301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B48D9E-45F2-2EAD-2C82-021F68FDDE32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3299" y="4931223"/>
            <a:ext cx="3031462" cy="19205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30BA96E-0911-CA36-7858-1E4B2AF7FF6F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7196" y="0"/>
            <a:ext cx="833330" cy="120379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B97B7DF-24B7-1CED-EF07-DDE79D3AE096}"/>
              </a:ext>
            </a:extLst>
          </p:cNvPr>
          <p:cNvPicPr/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34" t="68786"/>
          <a:stretch/>
        </p:blipFill>
        <p:spPr>
          <a:xfrm>
            <a:off x="3514443" y="288930"/>
            <a:ext cx="2700723" cy="135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2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771AF99-C766-E8B7-F2E2-A69E99C6433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66601" cy="6858000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32863A-40D2-FA06-F617-87AAF509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F431CD-27DC-5FC4-67CE-67DE8B8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C025A7-120C-3E08-8654-63104DDFA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1F49C176-3BAD-A332-C233-8BB04C31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72" y="1852612"/>
            <a:ext cx="10515600" cy="1325563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7841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F38C49-0DFB-4A85-B4B7-C66CDDAE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BEA21C-5308-8F15-AA73-0E5FFDFA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8AB04F-1C44-4BCD-F4E9-DC8E0ADC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72F16830-6D77-33DD-0075-4873A83DEAD9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B95D06-EC48-4533-817B-453AF6AA5013}" type="datetimeFigureOut">
              <a:rPr lang="es-CO" smtClean="0"/>
              <a:pPr/>
              <a:t>9/04/2026</a:t>
            </a:fld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3FB5122C-1A1B-DE49-20DB-BE1A173669A0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5BAFFB-BFEA-47DB-960B-4CD1F881D8A0}" type="slidenum">
              <a:rPr lang="es-CO" smtClean="0"/>
              <a:pPr/>
              <a:t>‹Nº›</a:t>
            </a:fld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9735719-6F06-9BFB-AFEF-83803F2006DF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323" y="4645152"/>
            <a:ext cx="4203029" cy="118474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ED85C8C-6CDA-6C0B-AF20-B34694B3A1D5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4304" y="0"/>
            <a:ext cx="1377696" cy="19301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A3B0644-61BF-EA3E-4033-D57D27B384D4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3299" y="4931223"/>
            <a:ext cx="3031462" cy="192059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092FE22-396C-BC1A-07D8-EE86F2C7AC5A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7196" y="0"/>
            <a:ext cx="833330" cy="120379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6E76BA4-62AF-55F6-0977-88C2412C2064}"/>
              </a:ext>
            </a:extLst>
          </p:cNvPr>
          <p:cNvPicPr/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34" t="68786"/>
          <a:stretch/>
        </p:blipFill>
        <p:spPr>
          <a:xfrm>
            <a:off x="3514443" y="288930"/>
            <a:ext cx="2700723" cy="1352245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C144A2E3-E26D-5E7D-763F-9C0B451B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26070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240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90C58D-5D1F-B8DA-FB76-2198557C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0F8E5F-093C-C720-A7CC-62A32F82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2CC20F-C2CF-B823-C7B0-598155E7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8CA4400-E2AD-B29C-8E75-E37783F40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775" y="1960947"/>
            <a:ext cx="10515600" cy="1325563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sz="4800" dirty="0">
                <a:solidFill>
                  <a:srgbClr val="2CB5E0"/>
                </a:solidFill>
                <a:latin typeface="Impact" panose="020B0806030902050204" pitchFamily="34" charset="0"/>
                <a:ea typeface="Russo One"/>
                <a:cs typeface="Russo One"/>
                <a:sym typeface="Russo One"/>
              </a:rPr>
              <a:t> </a:t>
            </a:r>
            <a:r>
              <a:rPr lang="es-ES" dirty="0"/>
              <a:t>Haga clic para modificar el estilo de título del patrón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1043A54-7E88-583E-2231-C8576B31C131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483"/>
          <a:stretch/>
        </p:blipFill>
        <p:spPr>
          <a:xfrm>
            <a:off x="748470" y="0"/>
            <a:ext cx="2419273" cy="12872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61802F0-824F-BB56-69E2-8BFFDB39BEDC}"/>
              </a:ext>
            </a:extLst>
          </p:cNvPr>
          <p:cNvPicPr/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124"/>
          <a:stretch/>
        </p:blipFill>
        <p:spPr>
          <a:xfrm>
            <a:off x="10878074" y="0"/>
            <a:ext cx="1288123" cy="186263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529A870-C984-326E-0099-FCB7BC8C1092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82697"/>
            <a:ext cx="1713550" cy="8127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1105219-0109-A676-82FB-61947E948F93}"/>
              </a:ext>
            </a:extLst>
          </p:cNvPr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9562524" y="607135"/>
            <a:ext cx="7747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94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5121D2-A2C2-2C4E-21A6-6A52D8EC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A4BDAF-9B45-EBEB-7109-89D1F9B6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17EF37-1031-085C-8631-31BCFA6E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70B97E2-E44D-7569-9297-0AEE5778CCB8}"/>
              </a:ext>
            </a:extLst>
          </p:cNvPr>
          <p:cNvGrpSpPr/>
          <p:nvPr userDrawn="1"/>
        </p:nvGrpSpPr>
        <p:grpSpPr>
          <a:xfrm>
            <a:off x="-1624013" y="-6350"/>
            <a:ext cx="8634413" cy="6872288"/>
            <a:chOff x="-1624013" y="-6350"/>
            <a:chExt cx="8634413" cy="6872288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C34E8FDB-1154-F8FB-0D4A-51B8A71A9E81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6096000" cy="6858000"/>
            </a:xfrm>
            <a:prstGeom prst="rect">
              <a:avLst/>
            </a:prstGeom>
            <a:solidFill>
              <a:srgbClr val="2C42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O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A0059B2-D994-6DA1-400E-F0108E0819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2200" y="-6350"/>
              <a:ext cx="2108200" cy="4389164"/>
            </a:xfrm>
            <a:custGeom>
              <a:avLst/>
              <a:gdLst>
                <a:gd name="T0" fmla="*/ 0 w 2815"/>
                <a:gd name="T1" fmla="*/ 0 h 5507"/>
                <a:gd name="T2" fmla="*/ 0 w 2815"/>
                <a:gd name="T3" fmla="*/ 0 h 5507"/>
                <a:gd name="T4" fmla="*/ 0 w 2815"/>
                <a:gd name="T5" fmla="*/ 5507 h 5507"/>
                <a:gd name="T6" fmla="*/ 2815 w 2815"/>
                <a:gd name="T7" fmla="*/ 5507 h 5507"/>
                <a:gd name="T8" fmla="*/ 2815 w 2815"/>
                <a:gd name="T9" fmla="*/ 3905 h 5507"/>
                <a:gd name="T10" fmla="*/ 1605 w 2815"/>
                <a:gd name="T11" fmla="*/ 3905 h 5507"/>
                <a:gd name="T12" fmla="*/ 1605 w 2815"/>
                <a:gd name="T13" fmla="*/ 0 h 5507"/>
                <a:gd name="T14" fmla="*/ 0 w 2815"/>
                <a:gd name="T15" fmla="*/ 0 h 5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5" h="5507">
                  <a:moveTo>
                    <a:pt x="0" y="0"/>
                  </a:moveTo>
                  <a:lnTo>
                    <a:pt x="0" y="0"/>
                  </a:lnTo>
                  <a:lnTo>
                    <a:pt x="0" y="5507"/>
                  </a:lnTo>
                  <a:lnTo>
                    <a:pt x="2815" y="5507"/>
                  </a:lnTo>
                  <a:lnTo>
                    <a:pt x="2815" y="3905"/>
                  </a:lnTo>
                  <a:lnTo>
                    <a:pt x="1605" y="3905"/>
                  </a:lnTo>
                  <a:lnTo>
                    <a:pt x="16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B5E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O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8934802-7363-8C4D-AC9F-E22317B85B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624013" y="3905250"/>
              <a:ext cx="4057650" cy="2960688"/>
            </a:xfrm>
            <a:custGeom>
              <a:avLst/>
              <a:gdLst>
                <a:gd name="T0" fmla="*/ 0 w 4908"/>
                <a:gd name="T1" fmla="*/ 0 h 3579"/>
                <a:gd name="T2" fmla="*/ 0 w 4908"/>
                <a:gd name="T3" fmla="*/ 0 h 3579"/>
                <a:gd name="T4" fmla="*/ 0 w 4908"/>
                <a:gd name="T5" fmla="*/ 1602 h 3579"/>
                <a:gd name="T6" fmla="*/ 3303 w 4908"/>
                <a:gd name="T7" fmla="*/ 1602 h 3579"/>
                <a:gd name="T8" fmla="*/ 3303 w 4908"/>
                <a:gd name="T9" fmla="*/ 3579 h 3579"/>
                <a:gd name="T10" fmla="*/ 4908 w 4908"/>
                <a:gd name="T11" fmla="*/ 3579 h 3579"/>
                <a:gd name="T12" fmla="*/ 4908 w 4908"/>
                <a:gd name="T13" fmla="*/ 0 h 3579"/>
                <a:gd name="T14" fmla="*/ 0 w 4908"/>
                <a:gd name="T15" fmla="*/ 0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08" h="3579">
                  <a:moveTo>
                    <a:pt x="0" y="0"/>
                  </a:moveTo>
                  <a:lnTo>
                    <a:pt x="0" y="0"/>
                  </a:lnTo>
                  <a:lnTo>
                    <a:pt x="0" y="1602"/>
                  </a:lnTo>
                  <a:lnTo>
                    <a:pt x="3303" y="1602"/>
                  </a:lnTo>
                  <a:lnTo>
                    <a:pt x="3303" y="3579"/>
                  </a:lnTo>
                  <a:lnTo>
                    <a:pt x="4908" y="3579"/>
                  </a:lnTo>
                  <a:lnTo>
                    <a:pt x="49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B5E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O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B82E21B-E18E-5938-A631-63129FABA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74625" y="-6350"/>
              <a:ext cx="4067175" cy="2862263"/>
            </a:xfrm>
            <a:custGeom>
              <a:avLst/>
              <a:gdLst>
                <a:gd name="T0" fmla="*/ 3316 w 4920"/>
                <a:gd name="T1" fmla="*/ 0 h 3461"/>
                <a:gd name="T2" fmla="*/ 3316 w 4920"/>
                <a:gd name="T3" fmla="*/ 0 h 3461"/>
                <a:gd name="T4" fmla="*/ 3316 w 4920"/>
                <a:gd name="T5" fmla="*/ 1859 h 3461"/>
                <a:gd name="T6" fmla="*/ 1605 w 4920"/>
                <a:gd name="T7" fmla="*/ 1859 h 3461"/>
                <a:gd name="T8" fmla="*/ 1605 w 4920"/>
                <a:gd name="T9" fmla="*/ 1 h 3461"/>
                <a:gd name="T10" fmla="*/ 0 w 4920"/>
                <a:gd name="T11" fmla="*/ 1 h 3461"/>
                <a:gd name="T12" fmla="*/ 0 w 4920"/>
                <a:gd name="T13" fmla="*/ 3461 h 3461"/>
                <a:gd name="T14" fmla="*/ 4920 w 4920"/>
                <a:gd name="T15" fmla="*/ 3461 h 3461"/>
                <a:gd name="T16" fmla="*/ 4920 w 4920"/>
                <a:gd name="T17" fmla="*/ 0 h 3461"/>
                <a:gd name="T18" fmla="*/ 3316 w 4920"/>
                <a:gd name="T19" fmla="*/ 0 h 3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20" h="3461">
                  <a:moveTo>
                    <a:pt x="3316" y="0"/>
                  </a:moveTo>
                  <a:lnTo>
                    <a:pt x="3316" y="0"/>
                  </a:lnTo>
                  <a:lnTo>
                    <a:pt x="3316" y="1859"/>
                  </a:lnTo>
                  <a:lnTo>
                    <a:pt x="1605" y="1859"/>
                  </a:lnTo>
                  <a:lnTo>
                    <a:pt x="1605" y="1"/>
                  </a:lnTo>
                  <a:lnTo>
                    <a:pt x="0" y="1"/>
                  </a:lnTo>
                  <a:lnTo>
                    <a:pt x="0" y="3461"/>
                  </a:lnTo>
                  <a:lnTo>
                    <a:pt x="4920" y="3461"/>
                  </a:lnTo>
                  <a:lnTo>
                    <a:pt x="4920" y="0"/>
                  </a:lnTo>
                  <a:lnTo>
                    <a:pt x="3316" y="0"/>
                  </a:lnTo>
                  <a:close/>
                </a:path>
              </a:pathLst>
            </a:custGeom>
            <a:solidFill>
              <a:srgbClr val="2CB5E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O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AC12E12D-05F3-C5E9-1AF8-C3851A1798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83072" y="5139120"/>
              <a:ext cx="2789238" cy="1325563"/>
            </a:xfrm>
            <a:custGeom>
              <a:avLst/>
              <a:gdLst>
                <a:gd name="T0" fmla="*/ 3374 w 3374"/>
                <a:gd name="T1" fmla="*/ 1602 h 1602"/>
                <a:gd name="T2" fmla="*/ 3374 w 3374"/>
                <a:gd name="T3" fmla="*/ 1602 h 1602"/>
                <a:gd name="T4" fmla="*/ 0 w 3374"/>
                <a:gd name="T5" fmla="*/ 1602 h 1602"/>
                <a:gd name="T6" fmla="*/ 0 w 3374"/>
                <a:gd name="T7" fmla="*/ 0 h 1602"/>
                <a:gd name="T8" fmla="*/ 3374 w 3374"/>
                <a:gd name="T9" fmla="*/ 0 h 1602"/>
                <a:gd name="T10" fmla="*/ 3374 w 3374"/>
                <a:gd name="T11" fmla="*/ 1602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74" h="1602">
                  <a:moveTo>
                    <a:pt x="3374" y="1602"/>
                  </a:moveTo>
                  <a:lnTo>
                    <a:pt x="3374" y="1602"/>
                  </a:lnTo>
                  <a:lnTo>
                    <a:pt x="0" y="1602"/>
                  </a:lnTo>
                  <a:lnTo>
                    <a:pt x="0" y="0"/>
                  </a:lnTo>
                  <a:lnTo>
                    <a:pt x="3374" y="0"/>
                  </a:lnTo>
                  <a:lnTo>
                    <a:pt x="3374" y="1602"/>
                  </a:lnTo>
                  <a:close/>
                </a:path>
              </a:pathLst>
            </a:custGeom>
            <a:solidFill>
              <a:srgbClr val="2CB5E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O"/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5A94A90-82B4-7BA5-19E3-E4C06FB8D662}"/>
              </a:ext>
            </a:extLst>
          </p:cNvPr>
          <p:cNvSpPr/>
          <p:nvPr userDrawn="1"/>
        </p:nvSpPr>
        <p:spPr>
          <a:xfrm>
            <a:off x="6096000" y="0"/>
            <a:ext cx="6096000" cy="6865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8095E530-6F51-30EC-3417-DF8B0FBE82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29686" y="1273832"/>
            <a:ext cx="5083942" cy="914400"/>
          </a:xfrm>
        </p:spPr>
        <p:txBody>
          <a:bodyPr/>
          <a:lstStyle>
            <a:lvl1pPr marL="0" indent="0">
              <a:buNone/>
              <a:defRPr sz="3200">
                <a:solidFill>
                  <a:srgbClr val="2C4293"/>
                </a:solidFill>
                <a:latin typeface="+mj-lt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 b="1">
                <a:solidFill>
                  <a:srgbClr val="2C4293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1"/>
            <a:endParaRPr lang="es-ES" dirty="0"/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5910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96B21-56D1-4A75-8B3A-D32A113F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lang="es-CO" sz="3200" kern="1200" dirty="0">
                <a:solidFill>
                  <a:srgbClr val="1C8558"/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A4ED02-51AF-B6F1-55A0-AABD9B4AD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877D62-C299-FBA1-0683-819334959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C297C2-E5DB-BBF0-A31C-B812EA4F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25D73B-4AD6-CADB-55AD-F6052739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9E8C17-021B-F1A3-7E51-87812B06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987A2F4-F582-D9A3-376C-50E6D0E4B22E}"/>
              </a:ext>
            </a:extLst>
          </p:cNvPr>
          <p:cNvGrpSpPr/>
          <p:nvPr userDrawn="1"/>
        </p:nvGrpSpPr>
        <p:grpSpPr>
          <a:xfrm>
            <a:off x="6096000" y="-404"/>
            <a:ext cx="6096000" cy="6858404"/>
            <a:chOff x="6096000" y="-404"/>
            <a:chExt cx="6096000" cy="6858404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4A1E69B-5A93-C9C6-9C14-66E3E51BE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848386FF-3BD7-91FC-EA5B-31CB469108A1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61196" y="-404"/>
              <a:ext cx="1430804" cy="199759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FB5CDF2E-AA69-86A2-70B2-35382807C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5490" y="5436998"/>
              <a:ext cx="774700" cy="8382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01C514D6-8B1A-F72D-5A9D-586721745CFB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27196" y="0"/>
              <a:ext cx="833330" cy="1203795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6B44D825-03D5-1FAE-2ECA-B60D80CE8C19}"/>
              </a:ext>
            </a:extLst>
          </p:cNvPr>
          <p:cNvPicPr/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4867" y="5868988"/>
            <a:ext cx="2849492" cy="11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19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A47783-BC09-0AB4-CA90-C9E5B264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0B3178-2ADE-A53B-E223-AB7B408F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E45759-CC98-597D-E3C6-4F80D73B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6F338E07-A336-7D86-A057-93EAB257B72C}"/>
              </a:ext>
            </a:extLst>
          </p:cNvPr>
          <p:cNvSpPr/>
          <p:nvPr userDrawn="1"/>
        </p:nvSpPr>
        <p:spPr>
          <a:xfrm>
            <a:off x="8244952" y="0"/>
            <a:ext cx="3947048" cy="6858000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DEF4BEE-84E1-9995-87A1-D974A10E60CA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6625" y="4931223"/>
            <a:ext cx="3031462" cy="19205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953DCC-52B7-92B3-E00D-0B59DB1ABC58}"/>
              </a:ext>
            </a:extLst>
          </p:cNvPr>
          <p:cNvPicPr/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34" t="68786"/>
          <a:stretch/>
        </p:blipFill>
        <p:spPr>
          <a:xfrm>
            <a:off x="3735580" y="118904"/>
            <a:ext cx="2700723" cy="135224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7F88B82E-4848-D265-B670-BF62D69A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34" y="1140378"/>
            <a:ext cx="5065643" cy="1325563"/>
          </a:xfrm>
        </p:spPr>
        <p:txBody>
          <a:bodyPr/>
          <a:lstStyle>
            <a:lvl1pPr marL="0" algn="l" defTabSz="914400" rtl="0" eaLnBrk="1" latinLnBrk="0" hangingPunct="1">
              <a:defRPr lang="es-CO" sz="3200" kern="1200" dirty="0">
                <a:solidFill>
                  <a:schemeClr val="bg1"/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99870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5682C15-67C8-D9CD-98CB-A2E64AB08BD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743369" y="2464179"/>
            <a:ext cx="2112431" cy="148843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5AE9343-8BD3-4009-4B4F-EDC543B16F36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0890913" y="3116645"/>
            <a:ext cx="850900" cy="83820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E0C2D5-CD19-853F-7866-58780F1E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E03319-1ADC-5686-2B5C-1BB54966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660D72-69E8-4B55-7049-F808E1A9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8301E0-3B0C-66C6-7EC7-88C397E3AB1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24929E5-577B-46EE-5B6C-687B82079A80}"/>
              </a:ext>
            </a:extLst>
          </p:cNvPr>
          <p:cNvPicPr/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1137" b="30387"/>
          <a:stretch/>
        </p:blipFill>
        <p:spPr>
          <a:xfrm rot="16200000">
            <a:off x="4570169" y="-388313"/>
            <a:ext cx="1137522" cy="19141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DCB6599-B4F5-1563-36C3-006D1E673C9C}"/>
              </a:ext>
            </a:extLst>
          </p:cNvPr>
          <p:cNvPicPr/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369" y="3649604"/>
            <a:ext cx="9759902" cy="320839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AD32EE27-5938-8044-4E03-502AA399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4" y="543002"/>
            <a:ext cx="3949943" cy="1325563"/>
          </a:xfrm>
        </p:spPr>
        <p:txBody>
          <a:bodyPr/>
          <a:lstStyle>
            <a:lvl1pPr marL="0" algn="l" defTabSz="914400" rtl="0" eaLnBrk="1" latinLnBrk="0" hangingPunct="1">
              <a:defRPr lang="es-CO" sz="3200" kern="1200" dirty="0">
                <a:solidFill>
                  <a:srgbClr val="2C4293"/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07234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5682C15-67C8-D9CD-98CB-A2E64AB08BD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743369" y="2464179"/>
            <a:ext cx="2112431" cy="148843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5AE9343-8BD3-4009-4B4F-EDC543B16F36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0890913" y="3116645"/>
            <a:ext cx="850900" cy="83820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E0C2D5-CD19-853F-7866-58780F1E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E03319-1ADC-5686-2B5C-1BB54966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660D72-69E8-4B55-7049-F808E1A9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8301E0-3B0C-66C6-7EC7-88C397E3AB1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24929E5-577B-46EE-5B6C-687B82079A80}"/>
              </a:ext>
            </a:extLst>
          </p:cNvPr>
          <p:cNvPicPr/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1137" b="30387"/>
          <a:stretch/>
        </p:blipFill>
        <p:spPr>
          <a:xfrm rot="16200000">
            <a:off x="4570169" y="-388313"/>
            <a:ext cx="1137522" cy="191414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AD32EE27-5938-8044-4E03-502AA399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4" y="543002"/>
            <a:ext cx="3949943" cy="1325563"/>
          </a:xfrm>
        </p:spPr>
        <p:txBody>
          <a:bodyPr/>
          <a:lstStyle>
            <a:lvl1pPr marL="0" algn="l" defTabSz="914400" rtl="0" eaLnBrk="1" latinLnBrk="0" hangingPunct="1">
              <a:defRPr lang="es-CO" sz="3200" kern="1200" dirty="0">
                <a:solidFill>
                  <a:srgbClr val="2C4293"/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2" name="Gráfico 5">
            <a:extLst>
              <a:ext uri="{FF2B5EF4-FFF2-40B4-BE49-F238E27FC236}">
                <a16:creationId xmlns:a16="http://schemas.microsoft.com/office/drawing/2014/main" id="{EC4B1DBC-C9B1-E028-F13F-B52F8066EE07}"/>
              </a:ext>
            </a:extLst>
          </p:cNvPr>
          <p:cNvSpPr/>
          <p:nvPr userDrawn="1"/>
        </p:nvSpPr>
        <p:spPr>
          <a:xfrm>
            <a:off x="1381539" y="3310253"/>
            <a:ext cx="9293087" cy="3547747"/>
          </a:xfrm>
          <a:custGeom>
            <a:avLst/>
            <a:gdLst>
              <a:gd name="connsiteX0" fmla="*/ 6987421 w 7345048"/>
              <a:gd name="connsiteY0" fmla="*/ 1768235 h 3547747"/>
              <a:gd name="connsiteX1" fmla="*/ 6987421 w 7345048"/>
              <a:gd name="connsiteY1" fmla="*/ 1778951 h 3547747"/>
              <a:gd name="connsiteX2" fmla="*/ 7345049 w 7345048"/>
              <a:gd name="connsiteY2" fmla="*/ 2199593 h 3547747"/>
              <a:gd name="connsiteX3" fmla="*/ 7345049 w 7345048"/>
              <a:gd name="connsiteY3" fmla="*/ 3263878 h 3547747"/>
              <a:gd name="connsiteX4" fmla="*/ 7061380 w 7345048"/>
              <a:gd name="connsiteY4" fmla="*/ 3547747 h 3547747"/>
              <a:gd name="connsiteX5" fmla="*/ 4731305 w 7345048"/>
              <a:gd name="connsiteY5" fmla="*/ 3547747 h 3547747"/>
              <a:gd name="connsiteX6" fmla="*/ 4731305 w 7345048"/>
              <a:gd name="connsiteY6" fmla="*/ 1899286 h 3547747"/>
              <a:gd name="connsiteX7" fmla="*/ 6375955 w 7345048"/>
              <a:gd name="connsiteY7" fmla="*/ 1899286 h 3547747"/>
              <a:gd name="connsiteX8" fmla="*/ 6375955 w 7345048"/>
              <a:gd name="connsiteY8" fmla="*/ 1648965 h 3547747"/>
              <a:gd name="connsiteX9" fmla="*/ 4481168 w 7345048"/>
              <a:gd name="connsiteY9" fmla="*/ 1648965 h 3547747"/>
              <a:gd name="connsiteX10" fmla="*/ 4481168 w 7345048"/>
              <a:gd name="connsiteY10" fmla="*/ 3547747 h 3547747"/>
              <a:gd name="connsiteX11" fmla="*/ 2958643 w 7345048"/>
              <a:gd name="connsiteY11" fmla="*/ 3547747 h 3547747"/>
              <a:gd name="connsiteX12" fmla="*/ 2958643 w 7345048"/>
              <a:gd name="connsiteY12" fmla="*/ 1648965 h 3547747"/>
              <a:gd name="connsiteX13" fmla="*/ 2708449 w 7345048"/>
              <a:gd name="connsiteY13" fmla="*/ 1648965 h 3547747"/>
              <a:gd name="connsiteX14" fmla="*/ 2708449 w 7345048"/>
              <a:gd name="connsiteY14" fmla="*/ 3547747 h 3547747"/>
              <a:gd name="connsiteX15" fmla="*/ 283669 w 7345048"/>
              <a:gd name="connsiteY15" fmla="*/ 3547747 h 3547747"/>
              <a:gd name="connsiteX16" fmla="*/ 0 w 7345048"/>
              <a:gd name="connsiteY16" fmla="*/ 3263878 h 3547747"/>
              <a:gd name="connsiteX17" fmla="*/ 0 w 7345048"/>
              <a:gd name="connsiteY17" fmla="*/ 283813 h 3547747"/>
              <a:gd name="connsiteX18" fmla="*/ 283669 w 7345048"/>
              <a:gd name="connsiteY18" fmla="*/ 0 h 3547747"/>
              <a:gd name="connsiteX19" fmla="*/ 1292854 w 7345048"/>
              <a:gd name="connsiteY19" fmla="*/ 0 h 3547747"/>
              <a:gd name="connsiteX20" fmla="*/ 1292854 w 7345048"/>
              <a:gd name="connsiteY20" fmla="*/ 2400377 h 3547747"/>
              <a:gd name="connsiteX21" fmla="*/ 1543047 w 7345048"/>
              <a:gd name="connsiteY21" fmla="*/ 2400377 h 3547747"/>
              <a:gd name="connsiteX22" fmla="*/ 1543047 w 7345048"/>
              <a:gd name="connsiteY22" fmla="*/ 0 h 3547747"/>
              <a:gd name="connsiteX23" fmla="*/ 7061324 w 7345048"/>
              <a:gd name="connsiteY23" fmla="*/ 0 h 3547747"/>
              <a:gd name="connsiteX24" fmla="*/ 7344993 w 7345048"/>
              <a:gd name="connsiteY24" fmla="*/ 283813 h 3547747"/>
              <a:gd name="connsiteX25" fmla="*/ 7344993 w 7345048"/>
              <a:gd name="connsiteY25" fmla="*/ 1348098 h 3547747"/>
              <a:gd name="connsiteX26" fmla="*/ 6987365 w 7345048"/>
              <a:gd name="connsiteY26" fmla="*/ 1768235 h 3547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345048" h="3547747">
                <a:moveTo>
                  <a:pt x="6987421" y="1768235"/>
                </a:moveTo>
                <a:cubicBezTo>
                  <a:pt x="6981141" y="1769245"/>
                  <a:pt x="6981141" y="1777941"/>
                  <a:pt x="6987421" y="1778951"/>
                </a:cubicBezTo>
                <a:cubicBezTo>
                  <a:pt x="7190010" y="1811433"/>
                  <a:pt x="7345049" y="1987364"/>
                  <a:pt x="7345049" y="2199593"/>
                </a:cubicBezTo>
                <a:lnTo>
                  <a:pt x="7345049" y="3263878"/>
                </a:lnTo>
                <a:cubicBezTo>
                  <a:pt x="7345049" y="3421072"/>
                  <a:pt x="7217933" y="3547747"/>
                  <a:pt x="7061380" y="3547747"/>
                </a:cubicBezTo>
                <a:lnTo>
                  <a:pt x="4731305" y="3547747"/>
                </a:lnTo>
                <a:lnTo>
                  <a:pt x="4731305" y="1899286"/>
                </a:lnTo>
                <a:lnTo>
                  <a:pt x="6375955" y="1899286"/>
                </a:lnTo>
                <a:lnTo>
                  <a:pt x="6375955" y="1648965"/>
                </a:lnTo>
                <a:lnTo>
                  <a:pt x="4481168" y="1648965"/>
                </a:lnTo>
                <a:lnTo>
                  <a:pt x="4481168" y="3547747"/>
                </a:lnTo>
                <a:lnTo>
                  <a:pt x="2958643" y="3547747"/>
                </a:lnTo>
                <a:lnTo>
                  <a:pt x="2958643" y="1648965"/>
                </a:lnTo>
                <a:lnTo>
                  <a:pt x="2708449" y="1648965"/>
                </a:lnTo>
                <a:lnTo>
                  <a:pt x="2708449" y="3547747"/>
                </a:lnTo>
                <a:lnTo>
                  <a:pt x="283669" y="3547747"/>
                </a:lnTo>
                <a:cubicBezTo>
                  <a:pt x="127059" y="3547747"/>
                  <a:pt x="0" y="3421128"/>
                  <a:pt x="0" y="3263878"/>
                </a:cubicBezTo>
                <a:lnTo>
                  <a:pt x="0" y="283813"/>
                </a:lnTo>
                <a:cubicBezTo>
                  <a:pt x="0" y="127068"/>
                  <a:pt x="127003" y="0"/>
                  <a:pt x="283669" y="0"/>
                </a:cubicBezTo>
                <a:lnTo>
                  <a:pt x="1292854" y="0"/>
                </a:lnTo>
                <a:lnTo>
                  <a:pt x="1292854" y="2400377"/>
                </a:lnTo>
                <a:lnTo>
                  <a:pt x="1543047" y="2400377"/>
                </a:lnTo>
                <a:lnTo>
                  <a:pt x="1543047" y="0"/>
                </a:lnTo>
                <a:lnTo>
                  <a:pt x="7061324" y="0"/>
                </a:lnTo>
                <a:cubicBezTo>
                  <a:pt x="7217990" y="0"/>
                  <a:pt x="7344993" y="127068"/>
                  <a:pt x="7344993" y="283813"/>
                </a:cubicBezTo>
                <a:lnTo>
                  <a:pt x="7344993" y="1348098"/>
                </a:lnTo>
                <a:cubicBezTo>
                  <a:pt x="7344993" y="1560270"/>
                  <a:pt x="7189954" y="1735809"/>
                  <a:pt x="6987365" y="176823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606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5855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5682C15-67C8-D9CD-98CB-A2E64AB08BDC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743369" y="2464179"/>
            <a:ext cx="2112431" cy="148843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5AE9343-8BD3-4009-4B4F-EDC543B16F36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0890913" y="3116645"/>
            <a:ext cx="850900" cy="83820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E0C2D5-CD19-853F-7866-58780F1E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E03319-1ADC-5686-2B5C-1BB54966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660D72-69E8-4B55-7049-F808E1A9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8301E0-3B0C-66C6-7EC7-88C397E3AB1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24929E5-577B-46EE-5B6C-687B82079A80}"/>
              </a:ext>
            </a:extLst>
          </p:cNvPr>
          <p:cNvPicPr/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1137" b="30387"/>
          <a:stretch/>
        </p:blipFill>
        <p:spPr>
          <a:xfrm rot="16200000">
            <a:off x="4570169" y="-388313"/>
            <a:ext cx="1137522" cy="191414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AD32EE27-5938-8044-4E03-502AA399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4" y="543002"/>
            <a:ext cx="3949943" cy="1325563"/>
          </a:xfrm>
        </p:spPr>
        <p:txBody>
          <a:bodyPr/>
          <a:lstStyle>
            <a:lvl1pPr marL="0" algn="l" defTabSz="914400" rtl="0" eaLnBrk="1" latinLnBrk="0" hangingPunct="1">
              <a:defRPr lang="es-CO" sz="3200" kern="1200" dirty="0">
                <a:solidFill>
                  <a:srgbClr val="2C4293"/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73800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solidFill>
          <a:srgbClr val="098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CA2C-0D4A-5C78-9705-04CB33A6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lang="es-CO" sz="4000" kern="1200" dirty="0">
                <a:solidFill>
                  <a:schemeClr val="bg1"/>
                </a:solidFill>
                <a:latin typeface="Impact" panose="020B0806030902050204" pitchFamily="34" charset="0"/>
                <a:ea typeface="Russo One"/>
                <a:cs typeface="Russo One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A77F11-075F-29D9-E61C-D9CA06A9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1C80D1-745E-BAB0-E027-0BA17E3C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31D377-B6E4-7FC2-6EA8-B66BFE2F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AA83A5-94BA-164A-08E5-861DAD00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19E37C6-2541-37A6-DC84-D6CDDE56C2DB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834"/>
          <a:stretch/>
        </p:blipFill>
        <p:spPr>
          <a:xfrm>
            <a:off x="10761196" y="0"/>
            <a:ext cx="1430804" cy="12618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FF0D9D7-C1DC-E430-D818-4D9D31540219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2" y="0"/>
            <a:ext cx="833330" cy="12037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CE9007B-7FFD-1E1E-2665-40444EDC7726}"/>
              </a:ext>
            </a:extLst>
          </p:cNvPr>
          <p:cNvPicPr/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051" b="-708"/>
          <a:stretch/>
        </p:blipFill>
        <p:spPr>
          <a:xfrm rot="10800000">
            <a:off x="6288471" y="5726942"/>
            <a:ext cx="2669055" cy="11310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640B18E-E6D2-7BFF-7A7B-93533469D189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46353" y="5560464"/>
            <a:ext cx="833330" cy="120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27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800060-BF2A-72B3-0F23-E0D88B63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BC6075-8F51-5E75-901E-C5C71CEA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922B5E-197F-6095-04B7-C939FF39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25CAE76-A8B2-622F-5E8B-B09D83ADF858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34" t="68786"/>
          <a:stretch/>
        </p:blipFill>
        <p:spPr>
          <a:xfrm>
            <a:off x="8432800" y="4975778"/>
            <a:ext cx="3759200" cy="18822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FDA2B7-9FC1-F075-4110-287763DAA402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128" b="27270"/>
          <a:stretch/>
        </p:blipFill>
        <p:spPr>
          <a:xfrm>
            <a:off x="9170760" y="0"/>
            <a:ext cx="3021240" cy="43857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E179C08-D09E-228D-E4B7-269526DFF651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8881" r="46342"/>
          <a:stretch/>
        </p:blipFill>
        <p:spPr>
          <a:xfrm>
            <a:off x="-38780" y="3775449"/>
            <a:ext cx="4170513" cy="308255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F515C93-1049-D653-D4C0-D421297B5249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271776" y="955691"/>
            <a:ext cx="7747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6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39A144-B697-5490-1D3D-21F30F54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7DA4BF-7E0C-3BD6-A126-68AB1399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F73A00-B780-DF38-6AEF-00376FEC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527A4D-5968-9479-59CC-4324C3C6DFF2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350" r="72146"/>
          <a:stretch/>
        </p:blipFill>
        <p:spPr>
          <a:xfrm>
            <a:off x="0" y="2150231"/>
            <a:ext cx="3396247" cy="470855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0076A60-C90D-90D1-2A1F-AFD1856224A4}"/>
              </a:ext>
            </a:extLst>
          </p:cNvPr>
          <p:cNvPicPr/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182"/>
          <a:stretch/>
        </p:blipFill>
        <p:spPr>
          <a:xfrm>
            <a:off x="4385974" y="-7861"/>
            <a:ext cx="2494930" cy="9886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72887B-90CF-40EA-32BB-32043C2F31D8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811347" y="4274972"/>
            <a:ext cx="786988" cy="12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16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BC949F-DA44-4A58-B1D3-CA13BA0C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093BA6-FB6D-8EEA-BCF8-F657EEE8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010C80-4966-3965-B789-12442D89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886A96-00AF-CC04-9432-26DFED08848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C4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9C69A1-7757-DA94-D82F-CC3E629E0719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483"/>
          <a:stretch/>
        </p:blipFill>
        <p:spPr>
          <a:xfrm>
            <a:off x="751519" y="13039"/>
            <a:ext cx="2419273" cy="12872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9D676E7-C0BC-B809-7C15-4A7A081670B9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2450" y="5682697"/>
            <a:ext cx="1713550" cy="81275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19F74BB-EFCD-65C7-02D7-375BD5A526EA}"/>
              </a:ext>
            </a:extLst>
          </p:cNvPr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5559396" y="358737"/>
            <a:ext cx="7747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06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eño personalizado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99813C-7619-F1F8-8DE0-EF8319A9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18C052-2113-33D7-951F-F703C9EA1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DA3945-816D-9C6E-C4EA-60FB493A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3E37D973-FDF2-175C-5424-11653A2D1028}"/>
              </a:ext>
            </a:extLst>
          </p:cNvPr>
          <p:cNvSpPr/>
          <p:nvPr userDrawn="1"/>
        </p:nvSpPr>
        <p:spPr>
          <a:xfrm>
            <a:off x="8244952" y="0"/>
            <a:ext cx="3947048" cy="6858000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A8CC564-5795-2509-039A-04AF10E51729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4304" y="0"/>
            <a:ext cx="1377696" cy="19301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29A697B-164B-60A6-4724-F73055D63AC1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6625" y="4931223"/>
            <a:ext cx="3031462" cy="19205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CD602E3-7745-660D-105F-592F4D30D87D}"/>
              </a:ext>
            </a:extLst>
          </p:cNvPr>
          <p:cNvPicPr/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634" t="68786"/>
          <a:stretch/>
        </p:blipFill>
        <p:spPr>
          <a:xfrm>
            <a:off x="3735580" y="118904"/>
            <a:ext cx="2700723" cy="135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62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eño personalizado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734184-4B88-3B62-69C0-8A9D8297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5F319-859C-3B83-E6CC-AAC4F6D1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16666A-AE7E-D754-927B-F9746A79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54614B-10E5-B679-3A3B-70744E1530B5}"/>
              </a:ext>
            </a:extLst>
          </p:cNvPr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582"/>
          <a:stretch/>
        </p:blipFill>
        <p:spPr>
          <a:xfrm rot="10800000">
            <a:off x="2834626" y="5812680"/>
            <a:ext cx="2419273" cy="10469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021DBCB-CCA7-CA76-18CE-C92E57646E47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9263" y="589847"/>
            <a:ext cx="1342737" cy="81275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89727D7-FB74-C3F2-0987-9333814A57A9}"/>
              </a:ext>
            </a:extLst>
          </p:cNvPr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724988" y="298949"/>
            <a:ext cx="7747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67FCE9-A969-6DDA-41CF-7734703A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C76628-D594-529C-087D-170A2AD2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55385F-F50A-E57F-B8AB-DDEDE340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356830E-879F-0D1C-DC3B-38F9B94F4BD7}"/>
              </a:ext>
            </a:extLst>
          </p:cNvPr>
          <p:cNvSpPr/>
          <p:nvPr userDrawn="1"/>
        </p:nvSpPr>
        <p:spPr>
          <a:xfrm>
            <a:off x="0" y="6181344"/>
            <a:ext cx="12192000" cy="676656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3A6BA29-11B6-FB8F-98C8-0A2CDF8F8431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8508" y="6015435"/>
            <a:ext cx="6954983" cy="100847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F23BC7E-166F-2C8F-0491-837534440982}"/>
              </a:ext>
            </a:extLst>
          </p:cNvPr>
          <p:cNvSpPr txBox="1"/>
          <p:nvPr userDrawn="1"/>
        </p:nvSpPr>
        <p:spPr>
          <a:xfrm>
            <a:off x="4674362" y="4885543"/>
            <a:ext cx="2843276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6000"/>
              </a:lnSpc>
            </a:pPr>
            <a:r>
              <a:rPr lang="es-CO" sz="6000" dirty="0">
                <a:solidFill>
                  <a:schemeClr val="bg1"/>
                </a:solidFill>
                <a:latin typeface="Impact" panose="020B0806030902050204" pitchFamily="34" charset="0"/>
              </a:rPr>
              <a:t>Gracias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B43137B-17C1-78F4-146C-97B4F0FAF9E2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9350" y="1674876"/>
            <a:ext cx="4813300" cy="23622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FD55D66-C598-96BA-3CA5-3D1170E68412}"/>
              </a:ext>
            </a:extLst>
          </p:cNvPr>
          <p:cNvSpPr txBox="1"/>
          <p:nvPr userDrawn="1"/>
        </p:nvSpPr>
        <p:spPr>
          <a:xfrm>
            <a:off x="0" y="5747317"/>
            <a:ext cx="121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bg1"/>
                </a:solidFill>
              </a:rPr>
              <a:t>Copyright © 2023. Todos los derechos reservados Universidad Tecnológica de Bolívar.</a:t>
            </a:r>
          </a:p>
        </p:txBody>
      </p:sp>
    </p:spTree>
    <p:extLst>
      <p:ext uri="{BB962C8B-B14F-4D97-AF65-F5344CB8AC3E}">
        <p14:creationId xmlns:p14="http://schemas.microsoft.com/office/powerpoint/2010/main" val="2926344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7E055C-EE96-A1A7-5F20-DBDA6E42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E8CD45-B3F0-9CCA-C5CF-81433DAC3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846BB9-0C89-57A7-1EC2-90B58D45E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95D06-EC48-4533-817B-453AF6AA5013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05C29C-E517-A932-96F7-A1C31C1F7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B6866F-55CF-3CA2-8719-78F8F2777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BAFFB-BFEA-47DB-960B-4CD1F881D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240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3" r:id="rId5"/>
    <p:sldLayoutId id="2147483674" r:id="rId6"/>
    <p:sldLayoutId id="2147483649" r:id="rId7"/>
    <p:sldLayoutId id="2147483655" r:id="rId8"/>
    <p:sldLayoutId id="2147483651" r:id="rId9"/>
    <p:sldLayoutId id="2147483654" r:id="rId10"/>
    <p:sldLayoutId id="2147483660" r:id="rId11"/>
    <p:sldLayoutId id="2147483657" r:id="rId12"/>
    <p:sldLayoutId id="2147483665" r:id="rId13"/>
    <p:sldLayoutId id="2147483666" r:id="rId14"/>
    <p:sldLayoutId id="2147483668" r:id="rId15"/>
    <p:sldLayoutId id="2147483667" r:id="rId16"/>
    <p:sldLayoutId id="2147483650" r:id="rId17"/>
    <p:sldLayoutId id="2147483669" r:id="rId18"/>
    <p:sldLayoutId id="2147483670" r:id="rId19"/>
    <p:sldLayoutId id="2147483671" r:id="rId20"/>
    <p:sldLayoutId id="2147483675" r:id="rId21"/>
    <p:sldLayoutId id="2147483676" r:id="rId22"/>
    <p:sldLayoutId id="214748367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CO" sz="4800" kern="1200" dirty="0">
          <a:solidFill>
            <a:srgbClr val="2C4293"/>
          </a:solidFill>
          <a:latin typeface="Impact" panose="020B0806030902050204" pitchFamily="34" charset="0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32ADA0-8B42-F6C7-0DB2-2CAE668305C1}"/>
              </a:ext>
            </a:extLst>
          </p:cNvPr>
          <p:cNvSpPr txBox="1"/>
          <p:nvPr/>
        </p:nvSpPr>
        <p:spPr>
          <a:xfrm>
            <a:off x="0" y="2767280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6000" dirty="0">
                <a:solidFill>
                  <a:srgbClr val="2C4293"/>
                </a:solidFill>
                <a:latin typeface="Impact" panose="020B0806030902050204" pitchFamily="34" charset="0"/>
              </a:rPr>
              <a:t>SMART-GRID SENTINEL</a:t>
            </a:r>
            <a:endParaRPr lang="es-CO" sz="6000" dirty="0">
              <a:solidFill>
                <a:srgbClr val="2C4293"/>
              </a:solidFill>
              <a:latin typeface="Impact" panose="020B080603090205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C17FAD-93B1-4331-AEE7-9954B82003A4}"/>
              </a:ext>
            </a:extLst>
          </p:cNvPr>
          <p:cNvSpPr txBox="1"/>
          <p:nvPr/>
        </p:nvSpPr>
        <p:spPr>
          <a:xfrm>
            <a:off x="2778499" y="3682813"/>
            <a:ext cx="50053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JESUS DAVID TOVAR SERRANO – T00085106</a:t>
            </a:r>
          </a:p>
          <a:p>
            <a:r>
              <a:rPr lang="es-MX" dirty="0"/>
              <a:t>INGENIERÍA ELÉCTRICA</a:t>
            </a:r>
          </a:p>
          <a:p>
            <a:r>
              <a:rPr lang="es-MX" dirty="0"/>
              <a:t>ESCUELA DE INGENIERÍA, ARQUITECTURA Y DISEÑO</a:t>
            </a:r>
          </a:p>
          <a:p>
            <a:endParaRPr lang="es-MX" dirty="0"/>
          </a:p>
          <a:p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6603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104A7-7757-6348-5A24-A671C146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8866"/>
            <a:ext cx="9993086" cy="1325563"/>
          </a:xfrm>
        </p:spPr>
        <p:txBody>
          <a:bodyPr/>
          <a:lstStyle/>
          <a:p>
            <a:pPr algn="l"/>
            <a:r>
              <a:rPr lang="es-ES" sz="4000" dirty="0"/>
              <a:t>Smart-</a:t>
            </a:r>
            <a:r>
              <a:rPr lang="es-ES" sz="4000" dirty="0" err="1"/>
              <a:t>Grid</a:t>
            </a:r>
            <a:r>
              <a:rPr lang="es-ES" sz="4000" dirty="0"/>
              <a:t> </a:t>
            </a:r>
            <a:r>
              <a:rPr lang="es-ES" sz="4000" dirty="0" err="1"/>
              <a:t>Sentinel</a:t>
            </a:r>
            <a:br>
              <a:rPr lang="es-ES" sz="4000" dirty="0"/>
            </a:br>
            <a:r>
              <a:rPr lang="es-ES" sz="4000" dirty="0"/>
              <a:t> </a:t>
            </a:r>
            <a:r>
              <a:rPr lang="es-ES" sz="2400" dirty="0"/>
              <a:t>(</a:t>
            </a:r>
            <a:r>
              <a:rPr lang="es-MX" sz="2400" dirty="0"/>
              <a:t>"Sistema Inteligente de Monitoreo de Calidad de Energía con Procesamiento Digital de Señales (DSP) y Gestión Térmica en el Borde (Edge Computing)."</a:t>
            </a:r>
            <a:r>
              <a:rPr lang="es-ES" sz="2400" dirty="0"/>
              <a:t>)</a:t>
            </a:r>
            <a:endParaRPr lang="es-CO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B78816-5F09-3625-2323-25FE4FB4A310}"/>
              </a:ext>
            </a:extLst>
          </p:cNvPr>
          <p:cNvSpPr txBox="1"/>
          <p:nvPr/>
        </p:nvSpPr>
        <p:spPr>
          <a:xfrm>
            <a:off x="1346816" y="1585278"/>
            <a:ext cx="1072864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rgbClr val="2C4293"/>
                </a:solidFill>
              </a:rPr>
              <a:t>Objetivo General: </a:t>
            </a:r>
            <a:r>
              <a:rPr lang="es-MX" dirty="0"/>
              <a:t>Diseñar un Analizador de Redes Inteligente (PQM) basado en</a:t>
            </a:r>
          </a:p>
          <a:p>
            <a:r>
              <a:rPr lang="es-MX" dirty="0"/>
              <a:t> el microcontrolador STM32F401, que integre procesamiento en el borde (Edge Computing) para</a:t>
            </a:r>
          </a:p>
          <a:p>
            <a:r>
              <a:rPr lang="es-MX" dirty="0"/>
              <a:t> el monitoreo de armónicos, detección de transitorios y supervisión térmica en sistemas de baja tensión.</a:t>
            </a:r>
          </a:p>
          <a:p>
            <a:endParaRPr lang="es-MX" dirty="0"/>
          </a:p>
          <a:p>
            <a:r>
              <a:rPr lang="es-MX" b="1" dirty="0">
                <a:solidFill>
                  <a:srgbClr val="2C4293"/>
                </a:solidFill>
              </a:rPr>
              <a:t>Objetivos Específicos: </a:t>
            </a:r>
          </a:p>
          <a:p>
            <a:r>
              <a:rPr lang="es-MX" dirty="0"/>
              <a:t>Desarrollar un sistema de adquisición de datos galvánicamente aislado para </a:t>
            </a:r>
          </a:p>
          <a:p>
            <a:r>
              <a:rPr lang="es-MX" dirty="0"/>
              <a:t>la medición precisa de variables de tensión y corriente en entornos de baja tensión.</a:t>
            </a:r>
          </a:p>
          <a:p>
            <a:endParaRPr lang="es-MX" dirty="0"/>
          </a:p>
          <a:p>
            <a:r>
              <a:rPr lang="es-MX" dirty="0"/>
              <a:t>Implementar algoritmos de Procesamiento Digital de Señales (DSP), específicamente la Transformada Rápida</a:t>
            </a:r>
          </a:p>
          <a:p>
            <a:r>
              <a:rPr lang="es-MX" dirty="0"/>
              <a:t> de Fourier (FFT), para el cálculo de la Distorsión Armónica Total (THD) y la identificación de transitorios</a:t>
            </a:r>
          </a:p>
          <a:p>
            <a:r>
              <a:rPr lang="es-MX" dirty="0"/>
              <a:t> (</a:t>
            </a:r>
            <a:r>
              <a:rPr lang="es-MX" dirty="0" err="1"/>
              <a:t>Sags</a:t>
            </a:r>
            <a:r>
              <a:rPr lang="es-MX" dirty="0"/>
              <a:t> y </a:t>
            </a:r>
            <a:r>
              <a:rPr lang="es-MX" dirty="0" err="1"/>
              <a:t>Swells</a:t>
            </a:r>
            <a:r>
              <a:rPr lang="es-MX" dirty="0"/>
              <a:t>).</a:t>
            </a:r>
          </a:p>
          <a:p>
            <a:endParaRPr lang="es-MX" dirty="0"/>
          </a:p>
          <a:p>
            <a:r>
              <a:rPr lang="es-MX" dirty="0"/>
              <a:t>Integrar un sistema de gestión térmica inteligente que monitoree puntos calientes (</a:t>
            </a:r>
            <a:r>
              <a:rPr lang="es-MX" dirty="0" err="1"/>
              <a:t>Hotspots</a:t>
            </a:r>
            <a:r>
              <a:rPr lang="es-MX" dirty="0"/>
              <a:t>) mediante sensores</a:t>
            </a:r>
          </a:p>
          <a:p>
            <a:r>
              <a:rPr lang="es-MX" dirty="0"/>
              <a:t> infrarrojos y actúe sobre la ventilación forzada del gabinete.</a:t>
            </a:r>
          </a:p>
          <a:p>
            <a:endParaRPr lang="es-MX" dirty="0"/>
          </a:p>
          <a:p>
            <a:r>
              <a:rPr lang="es-MX" dirty="0"/>
              <a:t>Establecer un ecosistema de conectividad </a:t>
            </a:r>
            <a:r>
              <a:rPr lang="es-MX" dirty="0" err="1"/>
              <a:t>IoT</a:t>
            </a:r>
            <a:r>
              <a:rPr lang="es-MX" dirty="0"/>
              <a:t> para la visualización de métricas críticas y reportes de eventos</a:t>
            </a:r>
          </a:p>
          <a:p>
            <a:r>
              <a:rPr lang="es-MX" dirty="0"/>
              <a:t> en tiempo real a través de protocolos industriales (MQTT).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350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104A7-7757-6348-5A24-A671C146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33344" y="290833"/>
            <a:ext cx="10515600" cy="1325563"/>
          </a:xfrm>
        </p:spPr>
        <p:txBody>
          <a:bodyPr/>
          <a:lstStyle/>
          <a:p>
            <a:r>
              <a:rPr lang="es-ES" sz="4000" dirty="0"/>
              <a:t>Descripción del Proyecto</a:t>
            </a:r>
            <a:endParaRPr lang="es-CO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B78816-5F09-3625-2323-25FE4FB4A310}"/>
              </a:ext>
            </a:extLst>
          </p:cNvPr>
          <p:cNvSpPr txBox="1"/>
          <p:nvPr/>
        </p:nvSpPr>
        <p:spPr>
          <a:xfrm>
            <a:off x="1514767" y="1771890"/>
            <a:ext cx="1064753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Smart-</a:t>
            </a:r>
            <a:r>
              <a:rPr lang="es-MX" b="1" dirty="0" err="1"/>
              <a:t>Grid</a:t>
            </a:r>
            <a:r>
              <a:rPr lang="es-MX" b="1" dirty="0"/>
              <a:t> </a:t>
            </a:r>
            <a:r>
              <a:rPr lang="es-MX" b="1" dirty="0" err="1"/>
              <a:t>Sentinel</a:t>
            </a:r>
            <a:r>
              <a:rPr lang="es-MX" dirty="0"/>
              <a:t> es una unidad de monitoreo de avanzada diseñada para la supervisión integral de </a:t>
            </a:r>
          </a:p>
          <a:p>
            <a:r>
              <a:rPr lang="es-MX" dirty="0"/>
              <a:t>tableros eléctricos de baja tensión. A diferencia de los medidores de energía convencionales que solo </a:t>
            </a:r>
          </a:p>
          <a:p>
            <a:r>
              <a:rPr lang="es-MX" dirty="0"/>
              <a:t>registran consumo (kWh), este sistema funciona como un </a:t>
            </a:r>
            <a:r>
              <a:rPr lang="es-MX" b="1" dirty="0"/>
              <a:t>dispositivo de diagnóstico preventivo</a:t>
            </a:r>
            <a:r>
              <a:rPr lang="es-MX" dirty="0"/>
              <a:t> en tiempo real.</a:t>
            </a:r>
          </a:p>
          <a:p>
            <a:endParaRPr lang="es-MX" dirty="0"/>
          </a:p>
          <a:p>
            <a:r>
              <a:rPr lang="es-MX" b="1" dirty="0"/>
              <a:t>Pilares Tecnológicos:</a:t>
            </a:r>
          </a:p>
          <a:p>
            <a:r>
              <a:rPr lang="es-MX" b="1" dirty="0"/>
              <a:t>Análisis PQM (</a:t>
            </a:r>
            <a:r>
              <a:rPr lang="es-MX" b="1" dirty="0" err="1"/>
              <a:t>Power</a:t>
            </a:r>
            <a:r>
              <a:rPr lang="es-MX" b="1" dirty="0"/>
              <a:t> </a:t>
            </a:r>
            <a:r>
              <a:rPr lang="es-MX" b="1" dirty="0" err="1"/>
              <a:t>Quality</a:t>
            </a:r>
            <a:r>
              <a:rPr lang="es-MX" b="1" dirty="0"/>
              <a:t> Monitor):</a:t>
            </a:r>
            <a:r>
              <a:rPr lang="es-MX" dirty="0"/>
              <a:t> Cálculo de </a:t>
            </a:r>
            <a:r>
              <a:rPr lang="es-MX" b="1" dirty="0"/>
              <a:t>RMS</a:t>
            </a:r>
            <a:r>
              <a:rPr lang="es-MX" dirty="0"/>
              <a:t>, </a:t>
            </a:r>
            <a:r>
              <a:rPr lang="es-MX" b="1" dirty="0"/>
              <a:t>THD</a:t>
            </a:r>
            <a:r>
              <a:rPr lang="es-MX" dirty="0"/>
              <a:t> y </a:t>
            </a:r>
            <a:r>
              <a:rPr lang="es-MX" b="1" dirty="0"/>
              <a:t>Espectro Armónico</a:t>
            </a:r>
            <a:r>
              <a:rPr lang="es-MX" dirty="0"/>
              <a:t> (hasta el armónico 31) </a:t>
            </a:r>
          </a:p>
          <a:p>
            <a:r>
              <a:rPr lang="es-MX" dirty="0" err="1"/>
              <a:t>ediante</a:t>
            </a:r>
            <a:r>
              <a:rPr lang="es-MX" dirty="0"/>
              <a:t> </a:t>
            </a:r>
            <a:r>
              <a:rPr lang="es-MX" b="1" dirty="0"/>
              <a:t>FFT</a:t>
            </a:r>
            <a:r>
              <a:rPr lang="es-MX" dirty="0"/>
              <a:t> en tiempo real.</a:t>
            </a:r>
          </a:p>
          <a:p>
            <a:endParaRPr lang="es-MX" dirty="0"/>
          </a:p>
          <a:p>
            <a:r>
              <a:rPr lang="es-MX" b="1" dirty="0"/>
              <a:t>Edge Computing:</a:t>
            </a:r>
            <a:r>
              <a:rPr lang="es-MX" dirty="0"/>
              <a:t> Procesamiento local de transitorios (</a:t>
            </a:r>
            <a:r>
              <a:rPr lang="es-MX" b="1" dirty="0" err="1"/>
              <a:t>Sags</a:t>
            </a:r>
            <a:r>
              <a:rPr lang="es-MX" b="1" dirty="0"/>
              <a:t>/</a:t>
            </a:r>
            <a:r>
              <a:rPr lang="es-MX" b="1" dirty="0" err="1"/>
              <a:t>Swells</a:t>
            </a:r>
            <a:r>
              <a:rPr lang="es-MX" dirty="0"/>
              <a:t>) en milisegundos usando el núcleo</a:t>
            </a:r>
          </a:p>
          <a:p>
            <a:r>
              <a:rPr lang="es-MX" dirty="0"/>
              <a:t>ARM Cortex-M4 del </a:t>
            </a:r>
            <a:r>
              <a:rPr lang="es-MX" b="1" dirty="0"/>
              <a:t>STM32F401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Gestión Térmica Activa:</a:t>
            </a:r>
            <a:r>
              <a:rPr lang="es-MX" dirty="0"/>
              <a:t> Monitoreo de puntos calientes mediante sensores </a:t>
            </a:r>
            <a:r>
              <a:rPr lang="es-MX" b="1" dirty="0"/>
              <a:t>Infrarrojos</a:t>
            </a:r>
            <a:r>
              <a:rPr lang="es-MX" dirty="0"/>
              <a:t> (sin contacto) y </a:t>
            </a:r>
          </a:p>
          <a:p>
            <a:r>
              <a:rPr lang="es-MX" dirty="0"/>
              <a:t>control de ventilación forzada.</a:t>
            </a:r>
          </a:p>
          <a:p>
            <a:endParaRPr lang="es-MX" dirty="0"/>
          </a:p>
          <a:p>
            <a:r>
              <a:rPr lang="es-MX" b="1" dirty="0"/>
              <a:t>Ecosistema </a:t>
            </a:r>
            <a:r>
              <a:rPr lang="es-MX" b="1" dirty="0" err="1"/>
              <a:t>IoT</a:t>
            </a:r>
            <a:r>
              <a:rPr lang="es-MX" b="1" dirty="0"/>
              <a:t>:</a:t>
            </a:r>
            <a:r>
              <a:rPr lang="es-MX" dirty="0"/>
              <a:t> Telemetría industrial vía </a:t>
            </a:r>
            <a:r>
              <a:rPr lang="es-MX" b="1" dirty="0"/>
              <a:t>MQTT</a:t>
            </a:r>
            <a:r>
              <a:rPr lang="es-MX" dirty="0"/>
              <a:t> para visualización en </a:t>
            </a:r>
            <a:r>
              <a:rPr lang="es-MX" dirty="0" err="1"/>
              <a:t>dashboards</a:t>
            </a:r>
            <a:r>
              <a:rPr lang="es-MX" dirty="0"/>
              <a:t> de </a:t>
            </a:r>
            <a:r>
              <a:rPr lang="es-MX" b="1" dirty="0" err="1"/>
              <a:t>Grafana</a:t>
            </a:r>
            <a:r>
              <a:rPr lang="es-MX" dirty="0"/>
              <a:t> o </a:t>
            </a:r>
            <a:r>
              <a:rPr lang="es-MX" b="1" dirty="0" err="1"/>
              <a:t>Ubidots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230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104A7-7757-6348-5A24-A671C146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33344" y="446327"/>
            <a:ext cx="10515600" cy="1325563"/>
          </a:xfrm>
        </p:spPr>
        <p:txBody>
          <a:bodyPr/>
          <a:lstStyle/>
          <a:p>
            <a:r>
              <a:rPr lang="es-ES" sz="4000" dirty="0"/>
              <a:t>Justificación del Proyecto</a:t>
            </a:r>
            <a:endParaRPr lang="es-CO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B78816-5F09-3625-2323-25FE4FB4A310}"/>
              </a:ext>
            </a:extLst>
          </p:cNvPr>
          <p:cNvSpPr txBox="1"/>
          <p:nvPr/>
        </p:nvSpPr>
        <p:spPr>
          <a:xfrm>
            <a:off x="1458783" y="1482641"/>
            <a:ext cx="1032609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El </a:t>
            </a:r>
            <a:r>
              <a:rPr lang="es-MX" b="1" dirty="0"/>
              <a:t>Smart-</a:t>
            </a:r>
            <a:r>
              <a:rPr lang="es-MX" b="1" dirty="0" err="1"/>
              <a:t>Grid</a:t>
            </a:r>
            <a:r>
              <a:rPr lang="es-MX" b="1" dirty="0"/>
              <a:t> </a:t>
            </a:r>
            <a:r>
              <a:rPr lang="es-MX" b="1" dirty="0" err="1"/>
              <a:t>Sentinel</a:t>
            </a:r>
            <a:r>
              <a:rPr lang="es-MX" dirty="0"/>
              <a:t> responde a la necesidad de modernizar la infraestructura eléctrica nacional bajo </a:t>
            </a:r>
          </a:p>
          <a:p>
            <a:r>
              <a:rPr lang="es-MX" dirty="0"/>
              <a:t>los estándares de la </a:t>
            </a:r>
            <a:r>
              <a:rPr lang="es-MX" b="1" dirty="0"/>
              <a:t>Industria 4.0</a:t>
            </a:r>
            <a:r>
              <a:rPr lang="es-MX" dirty="0"/>
              <a:t> y el </a:t>
            </a:r>
            <a:r>
              <a:rPr lang="es-MX" b="1" dirty="0"/>
              <a:t>RETIE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b="1" dirty="0"/>
              <a:t>¿Por qué es necesario?</a:t>
            </a:r>
          </a:p>
          <a:p>
            <a:r>
              <a:rPr lang="es-MX" b="1" dirty="0"/>
              <a:t>Protección de Activos:</a:t>
            </a:r>
            <a:r>
              <a:rPr lang="es-MX" dirty="0"/>
              <a:t> Los armónicos y transitorios reducen hasta un </a:t>
            </a:r>
            <a:r>
              <a:rPr lang="es-MX" b="1" dirty="0"/>
              <a:t>30% la vida útil</a:t>
            </a:r>
            <a:r>
              <a:rPr lang="es-MX" dirty="0"/>
              <a:t> de transformadores</a:t>
            </a:r>
          </a:p>
          <a:p>
            <a:r>
              <a:rPr lang="es-MX" dirty="0"/>
              <a:t> y motores por sobrecalentamiento.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Prevención de Incendios:</a:t>
            </a:r>
            <a:r>
              <a:rPr lang="es-MX" dirty="0"/>
              <a:t> El monitoreo térmico infrarrojo detecta fallas en conexiones (puntos calientes) </a:t>
            </a:r>
          </a:p>
          <a:p>
            <a:r>
              <a:rPr lang="es-MX" dirty="0"/>
              <a:t>antes de que ocurra un arco eléctrico o ignición.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Eficiencia de Costos:</a:t>
            </a:r>
            <a:r>
              <a:rPr lang="es-MX" dirty="0"/>
              <a:t> Los analizadores de redes comerciales superan los </a:t>
            </a:r>
            <a:r>
              <a:rPr lang="es-MX" b="1" dirty="0"/>
              <a:t>$2.000 USD</a:t>
            </a:r>
            <a:r>
              <a:rPr lang="es-MX" dirty="0"/>
              <a:t>. Esta solución basada </a:t>
            </a:r>
          </a:p>
          <a:p>
            <a:r>
              <a:rPr lang="es-MX" dirty="0"/>
              <a:t>en </a:t>
            </a:r>
            <a:r>
              <a:rPr lang="es-MX" b="1" dirty="0"/>
              <a:t>STM32</a:t>
            </a:r>
            <a:r>
              <a:rPr lang="es-MX" dirty="0"/>
              <a:t> ofrece alta precisión a una fracción del costo.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Optimización Energética:</a:t>
            </a:r>
            <a:r>
              <a:rPr lang="es-MX" dirty="0"/>
              <a:t> El cálculo del </a:t>
            </a:r>
            <a:r>
              <a:rPr lang="es-MX" b="1" dirty="0"/>
              <a:t>Factor de Potencia</a:t>
            </a:r>
            <a:r>
              <a:rPr lang="es-MX" dirty="0"/>
              <a:t> y </a:t>
            </a:r>
            <a:r>
              <a:rPr lang="es-MX" b="1" dirty="0"/>
              <a:t>THD</a:t>
            </a:r>
            <a:r>
              <a:rPr lang="es-MX" dirty="0"/>
              <a:t> permite identificar ineficiencias y evitar </a:t>
            </a:r>
          </a:p>
          <a:p>
            <a:r>
              <a:rPr lang="es-MX" dirty="0"/>
              <a:t>penalizaciones por parte de los operadores de red.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b="1" dirty="0"/>
              <a:t>Respuesta en el Borde (Edge):</a:t>
            </a:r>
            <a:r>
              <a:rPr lang="es-MX" dirty="0"/>
              <a:t> La capacidad de procesar la </a:t>
            </a:r>
            <a:r>
              <a:rPr lang="es-MX" b="1" dirty="0"/>
              <a:t>FFT localmente</a:t>
            </a:r>
            <a:r>
              <a:rPr lang="es-MX" dirty="0"/>
              <a:t> garantiza una detección de fallas</a:t>
            </a:r>
          </a:p>
          <a:p>
            <a:r>
              <a:rPr lang="es-MX" dirty="0"/>
              <a:t> en milisegundos, superando la latencia de los sistemas basados puramente en la nube.</a:t>
            </a:r>
          </a:p>
        </p:txBody>
      </p:sp>
    </p:spTree>
    <p:extLst>
      <p:ext uri="{BB962C8B-B14F-4D97-AF65-F5344CB8AC3E}">
        <p14:creationId xmlns:p14="http://schemas.microsoft.com/office/powerpoint/2010/main" val="243604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104A7-7757-6348-5A24-A671C146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40038" y="-309452"/>
            <a:ext cx="10515600" cy="1325563"/>
          </a:xfrm>
        </p:spPr>
        <p:txBody>
          <a:bodyPr/>
          <a:lstStyle/>
          <a:p>
            <a:r>
              <a:rPr lang="es-ES" sz="4000" dirty="0"/>
              <a:t>Justificación del Proyecto</a:t>
            </a:r>
            <a:endParaRPr lang="es-CO" sz="4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DF3B9D-698D-40CF-8073-D62085CF8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364" y="682024"/>
            <a:ext cx="6342652" cy="18092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665E56-7A82-47C8-9FF9-AEE30770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78" y="4785164"/>
            <a:ext cx="6277338" cy="195121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4ED5A98-FBD7-4FCE-A0F2-AB72983F7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78" y="2600467"/>
            <a:ext cx="6277338" cy="215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9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104A7-7757-6348-5A24-A671C146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59" y="266466"/>
            <a:ext cx="10515600" cy="1325563"/>
          </a:xfrm>
        </p:spPr>
        <p:txBody>
          <a:bodyPr/>
          <a:lstStyle/>
          <a:p>
            <a:pPr algn="l"/>
            <a:r>
              <a:rPr lang="es-ES" sz="4000" dirty="0"/>
              <a:t>Diagrama de Bloques del sistema a </a:t>
            </a:r>
            <a:br>
              <a:rPr lang="es-ES" sz="4000" dirty="0"/>
            </a:br>
            <a:r>
              <a:rPr lang="es-ES" sz="4000" dirty="0"/>
              <a:t>implementar </a:t>
            </a:r>
            <a:endParaRPr lang="es-CO" sz="4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79558F-409E-4DFB-AF58-968C58F64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79" y="1937262"/>
            <a:ext cx="10413125" cy="43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8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104A7-7757-6348-5A24-A671C146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59" y="266466"/>
            <a:ext cx="10515600" cy="1325563"/>
          </a:xfrm>
        </p:spPr>
        <p:txBody>
          <a:bodyPr/>
          <a:lstStyle/>
          <a:p>
            <a:pPr algn="l"/>
            <a:r>
              <a:rPr lang="es-ES" sz="4000" dirty="0"/>
              <a:t>Selección de componentes </a:t>
            </a:r>
            <a:endParaRPr lang="es-CO" sz="4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168A84-45F3-456F-B34D-8A045591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41" y="1592029"/>
            <a:ext cx="5235394" cy="17375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F66601E-2FE3-45D0-8FE2-553BDBB3A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141" y="3710535"/>
            <a:ext cx="5174977" cy="18891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AC41729-0052-4556-AD70-2363D19BA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534" y="1592029"/>
            <a:ext cx="5235811" cy="18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85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775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ueva marca">
      <a:majorFont>
        <a:latin typeface="Impac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</TotalTime>
  <Words>550</Words>
  <Application>Microsoft Office PowerPoint</Application>
  <PresentationFormat>Panorámica</PresentationFormat>
  <Paragraphs>61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Impact</vt:lpstr>
      <vt:lpstr>Tema de Office</vt:lpstr>
      <vt:lpstr>Presentación de PowerPoint</vt:lpstr>
      <vt:lpstr>Smart-Grid Sentinel  ("Sistema Inteligente de Monitoreo de Calidad de Energía con Procesamiento Digital de Señales (DSP) y Gestión Térmica en el Borde (Edge Computing).")</vt:lpstr>
      <vt:lpstr>Descripción del Proyecto</vt:lpstr>
      <vt:lpstr>Justificación del Proyecto</vt:lpstr>
      <vt:lpstr>Justificación del Proyecto</vt:lpstr>
      <vt:lpstr>Diagrama de Bloques del sistema a  implementar </vt:lpstr>
      <vt:lpstr>Selección de componentes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Mavy Catherine Gutierrez Cedeno</dc:creator>
  <cp:lastModifiedBy>Jesus David Tovar Serrano</cp:lastModifiedBy>
  <cp:revision>12</cp:revision>
  <dcterms:created xsi:type="dcterms:W3CDTF">2023-09-28T21:13:09Z</dcterms:created>
  <dcterms:modified xsi:type="dcterms:W3CDTF">2026-04-10T04:38:19Z</dcterms:modified>
</cp:coreProperties>
</file>